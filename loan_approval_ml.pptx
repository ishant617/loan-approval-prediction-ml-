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Loan Approval Prediction using ML — EDA, feature engineering, Logistic Regression &amp; KNN.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6-step pipeline: load → EDA → engineer → split/scale → model →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libraries imported: pandas, numpy, seaborn, matplotlib, and sklearn.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EDA: pie chart for class balance, bar for gender, histograms for income and credit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engineering: Label encoding for binary/ordinal, OneHotEncoding for nominals, correlation heatmap for feature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heatmap reveals Credit Score and DTI Ratio as the strongest predictors.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(polynomial + log transforms), 80/20 split, and StandardScaler normalization.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with class_weight=balanced and max_iter=1000 for convergence. Evaluated with precision, recall, F1, accuracy, and confusion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with 5 neighbors and distance weighting. Requires scaling. Non-parametric — no distribution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of Logistic Regression vs KNN on 5 evaluation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key learnings from the project covering EDA, engineering, model comparison, scaling, and evaluation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A2E40"/>
          </a:solidFill>
          <a:ln w="1905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914400"/>
            <a:ext cx="2286000" cy="22860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🏦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Loan Approval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9FF"/>
                </a:solidFill>
              </a:rPr>
              <a:t>Prediction System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EC5"/>
                </a:solidFill>
              </a:rPr>
              <a:t>End-to-End Machine Learning Project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4930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34747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34930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</a:rPr>
              <a:t>Pandas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4747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34930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959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</a:rPr>
              <a:t>Seaborn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397764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39959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</a:rPr>
              <a:t>EDA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397764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39959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789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Data Ingestion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444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Load loan_approval_data.csv using Pandas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0789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EDA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444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Visualize distributions, class imbalance &amp; correlations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3134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791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Encode categoricals, engineer new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24028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3134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Train-Test Split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26791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80/20 split + StandardScaler normalization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5478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Modeling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9136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Logistic Regression &amp; KNN classifiers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47472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35478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39136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Accuracy, Precision, Recall, F1, Confusion Matrix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Libraries &amp;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train_test_split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pd.read_csv("loan_approval_data.csv")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9692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Pandas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261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Data loading &amp; manipulation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8288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18836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NumPy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176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Numerical operations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7432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27980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Seaborn / Matplotlib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36576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37124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005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ML models &amp; preprocessing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📊 Loan Approval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0A1628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plt.pie(classes_count,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labels=["No","Yes"],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autopct="%1.1f%%")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Class balance check — pie chart shows approved vs rejected ratio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👥 Gender Distribution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0A1628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sns.barplot(gender_cnt)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ax.bar_label(ax.containers[0])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Bar chart of applicant gender breakdown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💰 Applicant Income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0A1628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sns.histplot(data=df,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x="Applicant_Income",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bins=20)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Income distribution — check skewness &amp; outliers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📈 Credit Score vs Loan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429000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0A1628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sns.histplot(data=df,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x="Credit_Score",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hue="Loan_",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multiple="dodge")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Credit score distribution split by approval outcome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A2E4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</a:rPr>
              <a:t>🏷️  Label Encoding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0A1628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44752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df["Education_Level"] = le.fit_transform(df["Education_Level"])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df["Loan_"] = le.fit_transform(df["Loan_"])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A2E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15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🔢  One-Hot Encoding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4937760" cy="1170432"/>
          </a:xfrm>
          <a:prstGeom prst="roundRect">
            <a:avLst>
              <a:gd name="adj" fmla="val 4688"/>
            </a:avLst>
          </a:prstGeom>
          <a:solidFill>
            <a:srgbClr val="0A1628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36392"/>
            <a:ext cx="4663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["Employment_Status","Marital_Status",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"Loan_","Property_Area","Gender","Employer_Category"]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ohe = OneHotEncoder(drop="first", sparse_output=False)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encoded = ohe.fit_transform(df[cols])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96012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A2E4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16752" y="10515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</a:rPr>
              <a:t>LabelEncoder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16752" y="13716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Converts text labels to integers (e.g. Yes → 1, No → 0). Used for ordinal or binary cols.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3774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A2E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16752" y="24688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OneHotEncoder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16752" y="278892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Creates binary columns for each category. drop="first" avoids multicollinearity.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52160" y="37947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16752" y="38862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Heatmap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016752" y="420624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Correlation matrix to find features most predictive of Loan_.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Correlation Heatmap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0A1628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24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98448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df.select_dtypes(include="number")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corr_matrix = num_cols.corr()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plt.figure(figsize=(15, 8))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sns.heatmap(corr_matrix, annot=True, fmt=".2f", cmap="coolwarm")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 correlations with target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num_cols.corr()["Loan_"].sort_values(ascending=False)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🔑  Key Insights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2E40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" y="3300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🟢  Credit Score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35753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Highest positive correlation with approval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32461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2E40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10328" y="3300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🟡  DTI Ratio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35753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Negative correlation — higher debt reduces approval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2E40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🔵  Applicant Income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" y="4398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Moderate positive effect on loan outcome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40690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2E40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0328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⚪  Coapplicant Income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10328" y="4398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Weak but positive influence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Train-Test Split &amp; Feature Scaling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2004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1A2E4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</a:rPr>
              <a:t>⚙️  Advanced Feature Engineering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0A1628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26464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df["DTI_Ratio_sq"] = df["DTI_Ratio"] ** 2          # Non-linear DTI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df["Credit_Score_sq"] = df["Credit_Score"] ** 2      # Non-linear credit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df["Applicant_Income_log"] = np.log1p(df["Applicant_Income"])  # Reduce skew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328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</a:rPr>
              <a:t>✂️  Train-Test Split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90779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df.drop("Loan_", axis=1)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df["Loan_"]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train_test_split(X, y, test_size=0.2, random_state=42)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468880"/>
            <a:ext cx="3200400" cy="1508760"/>
          </a:xfrm>
          <a:prstGeom prst="roundRect">
            <a:avLst>
              <a:gd name="adj" fmla="val 6061"/>
            </a:avLst>
          </a:prstGeom>
          <a:solidFill>
            <a:srgbClr val="1A2E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42432" y="253288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📐  StandardScaler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42432" y="2852928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33872" y="2907792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 = scaler.fit_transform(X_train)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 = scaler.transform(X_test)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</a:rPr>
              <a:t>80%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206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Train 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of dataset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41605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</a:rPr>
              <a:t>20%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206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Test 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of dataset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41605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</a:rPr>
              <a:t>Z-score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206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Scaling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normalization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1: Logistic Regression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2004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205740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875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80467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confusion_matrix, accuracy_score, precision_score, recall_score, f1_score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log_model = LogisticRegression(class_weight="balanced", max_iter=1000)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log_model.fit(X_train_scaled, y_train)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log_model.predict(X_test_scaled)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print("precision:", precision_score(y_test, y_pred, average="weighted"))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print("recall:   ", recall_score(y_test, y_pred, average="weighted"))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print("f1 score: ", f1_score(y_test, y_pred, average="weighted"))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print("accuracy: ", accuracy_score(y_test, y_pred))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A2E40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644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class_weight: 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644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"balanced"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6440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→  Handles class imbalance automatically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7647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A2E40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862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max_iter: 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8862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8862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→  Ensures convergence on large feature sets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398264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A2E40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07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solver: 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507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lbfgs (default)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50799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→  Efficient for multiclass problems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2: K-Nearest Neighbors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2004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875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knn_model = KNeighborsClassifier(n_neighbors=5, weights="distance")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knn_model.fit(X_train_scaled, y_train)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knn_model.predict(X_test_scaled)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print("precision:", precision_score(y_test, y_pred, average="weighted"))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print("recall:   ", recall_score(y_test, y_pred, average="weighted"))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print("f1 score: ", f1_score(y_test, y_pred, average="weighted"))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print("accuracy: ", accuracy_score(y_test, y_pred))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" y="2944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🎯  n_neighbors = 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Considers 5 closest data points to classify a new sample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88036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0328" y="2944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⚖️  weights = "distance"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Closer neighbors have higher influence — prevents noise from distant 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📏  Why Scaling Matters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KNN is distance-based; StandardScaler ensures all features contribute equally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88620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1A2E40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10328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🔄  vs Logistic Regression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10328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Non-parametric model — no assumptions about data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Evaluation &amp;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2004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384048"/>
          </a:xfrm>
          <a:prstGeom prst="rect">
            <a:avLst/>
          </a:prstGeom>
          <a:solidFill>
            <a:srgbClr val="1A2E40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Metric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1A3A5C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743200" cy="384048"/>
          </a:xfrm>
          <a:prstGeom prst="rect">
            <a:avLst/>
          </a:prstGeom>
          <a:solidFill>
            <a:srgbClr val="1A4A3A"/>
          </a:solidFill>
          <a:ln w="1016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KNN (k=5)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14447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14447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</a:rPr>
              <a:t>~85%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4447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~82%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2743200" cy="438912"/>
          </a:xfrm>
          <a:prstGeom prst="rect">
            <a:avLst/>
          </a:prstGeom>
          <a:solidFill>
            <a:srgbClr val="0D1B2A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19476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874520"/>
            <a:ext cx="2743200" cy="438912"/>
          </a:xfrm>
          <a:prstGeom prst="rect">
            <a:avLst/>
          </a:prstGeom>
          <a:solidFill>
            <a:srgbClr val="0D1B2A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19476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</a:rPr>
              <a:t>Weighted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874520"/>
            <a:ext cx="2743200" cy="438912"/>
          </a:xfrm>
          <a:prstGeom prst="rect">
            <a:avLst/>
          </a:prstGeom>
          <a:solidFill>
            <a:srgbClr val="0D1B2A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80760" y="19476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Weighted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37744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24505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Recall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37744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46120" y="24505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</a:rPr>
              <a:t>Weighted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37744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0760" y="24505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Weighted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880360"/>
            <a:ext cx="2743200" cy="438912"/>
          </a:xfrm>
          <a:prstGeom prst="rect">
            <a:avLst/>
          </a:prstGeom>
          <a:solidFill>
            <a:srgbClr val="0D1B2A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29535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F1 Score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880360"/>
            <a:ext cx="2743200" cy="438912"/>
          </a:xfrm>
          <a:prstGeom prst="rect">
            <a:avLst/>
          </a:prstGeom>
          <a:solidFill>
            <a:srgbClr val="0D1B2A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46120" y="29535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</a:rPr>
              <a:t>Weighted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2880360"/>
            <a:ext cx="2743200" cy="438912"/>
          </a:xfrm>
          <a:prstGeom prst="rect">
            <a:avLst/>
          </a:prstGeom>
          <a:solidFill>
            <a:srgbClr val="0D1B2A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80760" y="29535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Weighted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38328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" y="34564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38328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46120" y="34564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</a:rPr>
              <a:t>✔ Printed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3383280"/>
            <a:ext cx="2743200" cy="438912"/>
          </a:xfrm>
          <a:prstGeom prst="rect">
            <a:avLst/>
          </a:prstGeom>
          <a:solidFill>
            <a:srgbClr val="141F2E"/>
          </a:solidFill>
          <a:ln w="5080">
            <a:solidFill>
              <a:srgbClr val="2A3A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80760" y="34564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✔ Printed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3977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 Key Takeaways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8412480" cy="201168"/>
          </a:xfrm>
          <a:prstGeom prst="roundRect">
            <a:avLst>
              <a:gd name="adj" fmla="val 22727"/>
            </a:avLst>
          </a:prstGeom>
          <a:solidFill>
            <a:srgbClr val="1A2E40"/>
          </a:solidFill>
          <a:ln w="5080">
            <a:solidFill>
              <a:srgbClr val="00C9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2920" y="440740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▶  Both models evaluated with 5 metrics: Accuracy, Precision, Recall, F1, Confusion Matrix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626864"/>
            <a:ext cx="8412480" cy="201168"/>
          </a:xfrm>
          <a:prstGeom prst="roundRect">
            <a:avLst>
              <a:gd name="adj" fmla="val 22727"/>
            </a:avLst>
          </a:prstGeom>
          <a:solidFill>
            <a:srgbClr val="1A2E40"/>
          </a:solidFill>
          <a:ln w="5080">
            <a:solidFill>
              <a:srgbClr val="00C9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920" y="464515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▶  LR uses class_weight="balanced" to handle imbalanced approval classes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864608"/>
            <a:ext cx="8412480" cy="201168"/>
          </a:xfrm>
          <a:prstGeom prst="roundRect">
            <a:avLst>
              <a:gd name="adj" fmla="val 22727"/>
            </a:avLst>
          </a:prstGeom>
          <a:solidFill>
            <a:srgbClr val="1A2E40"/>
          </a:solidFill>
          <a:ln w="5080">
            <a:solidFill>
              <a:srgbClr val="00C9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2920" y="4882896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▶  KNN uses distance weighting — scaling is critical for fair distance computation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 &amp; Key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2004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1A2E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40080" cy="694944"/>
          </a:xfrm>
          <a:prstGeom prst="roundRect">
            <a:avLst>
              <a:gd name="adj" fmla="val 14286"/>
            </a:avLst>
          </a:prstGeom>
          <a:solidFill>
            <a:srgbClr val="00C9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4300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024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EDA reveals class imbalance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32588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Pie chart showed unequal loan approval rates — addressed with class_weight="balanced"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1A2E4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64792"/>
            <a:ext cx="640080" cy="694944"/>
          </a:xfrm>
          <a:prstGeom prst="roundRect">
            <a:avLst>
              <a:gd name="adj" fmla="val 14286"/>
            </a:avLst>
          </a:prstGeom>
          <a:solidFill>
            <a:srgbClr val="FF98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94767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828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</a:rPr>
              <a:t>Feature engineering boosts performance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13055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Log transform on income, squared DTI/Credit Score capture non-linear relationships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9464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1A2E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69464"/>
            <a:ext cx="640080" cy="694944"/>
          </a:xfrm>
          <a:prstGeom prst="roundRect">
            <a:avLst>
              <a:gd name="adj" fmla="val 14286"/>
            </a:avLst>
          </a:prstGeom>
          <a:solidFill>
            <a:srgbClr val="00E67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5760" y="27523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Credit Score is the strongest predictor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93522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Correlation heatmap confirmed Credit Score and DTI Ratio most predictive of loan approval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1A2E40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74136"/>
            <a:ext cx="640080" cy="694944"/>
          </a:xfrm>
          <a:prstGeom prst="roundRect">
            <a:avLst>
              <a:gd name="adj" fmla="val 14286"/>
            </a:avLst>
          </a:prstGeom>
          <a:solidFill>
            <a:srgbClr val="4ECD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" y="355701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4381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</a:rPr>
              <a:t>Scaling is critical for KNN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73989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StandardScaler ensures distance-based algorithms are not dominated by high-range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78808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1A2E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78808"/>
            <a:ext cx="640080" cy="694944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65760" y="43616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2428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Multiple metrics matter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54456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Accuracy alone is misleading on imbalanced data — use Precision, Recall, F1 together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2026-09-15T06:44:06Z</dcterms:created>
  <dcterms:modified xsi:type="dcterms:W3CDTF">2026-09-15T06:44:06Z</dcterms:modified>
</cp:coreProperties>
</file>